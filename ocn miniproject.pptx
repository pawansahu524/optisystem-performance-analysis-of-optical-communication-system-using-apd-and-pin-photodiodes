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302" r:id="rId4"/>
    <p:sldId id="270" r:id="rId5"/>
    <p:sldId id="314" r:id="rId6"/>
    <p:sldId id="315" r:id="rId7"/>
    <p:sldId id="316" r:id="rId8"/>
    <p:sldId id="317" r:id="rId9"/>
    <p:sldId id="318" r:id="rId10"/>
    <p:sldId id="319" r:id="rId11"/>
    <p:sldId id="3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38F1B7-58ED-4697-9F0F-B3B5F8D3A6A4}" v="11" dt="2026-03-12T16:50:16.6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330" y="41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41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D09E3-109B-4F55-B0F5-B19884240CBB}" type="datetimeFigureOut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84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84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4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84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54876-09DF-40CD-8D3E-79574AFF00D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da7000e5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da7000e5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397-7D1F-423F-B738-C9656BF75FD6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617FA-383D-425B-ABCB-689CF3F7529F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6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6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16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1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4018-B997-4919-A0D6-BCCAB594B6AE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81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8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21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22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A2F36-7F1D-481D-A024-11C2E31B5B86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8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8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6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27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28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2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30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31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910E-75E6-4CC2-BF34-F67A93ECE753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832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833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79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95DFA-EF9F-41A3-A8E3-517925DA41EF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79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79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D9CFE-1688-4D31-94B5-43C7ADC7779D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66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66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35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3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3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874E0-8425-49E7-A42D-D8EA577E65CA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83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83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5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806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F885-4DCB-4529-B06B-41539FE8309B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8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80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11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649C2-C892-4EA7-8914-1DB679020924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8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8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9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80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80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7E8FB-5DF2-4C92-AB55-769A32E29A48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80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Delicious Discoveries</a:t>
            </a:r>
          </a:p>
        </p:txBody>
      </p:sp>
      <p:sp>
        <p:nvSpPr>
          <p:cNvPr id="104880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3pPr>
            <a:lvl4pPr lvl="3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6246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95249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73686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 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20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76214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 Conte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37661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Comparis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 b="1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 b="1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05709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 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08231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507987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82588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800"/>
            </a:lvl2pPr>
            <a:lvl3pPr marL="1828754" lvl="2" indent="-4571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4pPr>
            <a:lvl5pPr marL="3047924" lvl="4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5pPr>
            <a:lvl6pPr marL="3657509" lvl="5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6pPr>
            <a:lvl7pPr marL="4267093" lvl="6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7pPr>
            <a:lvl8pPr marL="4876678" lvl="7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8pPr>
            <a:lvl9pPr marL="5486263" lvl="8" indent="-431789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53011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 with 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67"/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5pPr>
            <a:lvl6pPr marL="3657509" lvl="5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6pPr>
            <a:lvl7pPr marL="4267093" lvl="6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7pPr>
            <a:lvl8pPr marL="4876678" lvl="7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8pPr>
            <a:lvl9pPr marL="5486263" lvl="8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67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0432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Title and Vertical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5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174664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 Title and 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5565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02FCB-D67B-4A1E-95E2-4C1C8ECEF4B3}" type="datetime1">
              <a:rPr lang="en-IN" smtClean="0"/>
              <a:pPr/>
              <a:t>31-03-2026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Delicious Discoveries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04D8A3-F226-4299-AE4E-8E20FF6744A8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214637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25"/>
          <p:cNvCxnSpPr/>
          <p:nvPr/>
        </p:nvCxnSpPr>
        <p:spPr>
          <a:xfrm>
            <a:off x="1461655" y="1022671"/>
            <a:ext cx="8991600" cy="12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25"/>
          <p:cNvSpPr/>
          <p:nvPr/>
        </p:nvSpPr>
        <p:spPr>
          <a:xfrm>
            <a:off x="1915624" y="1022671"/>
            <a:ext cx="8382000" cy="7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2000" kern="0" dirty="0">
              <a:solidFill>
                <a:srgbClr val="8E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2113000" y="1628147"/>
            <a:ext cx="8184800" cy="4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 defTabSz="1219170">
              <a:buClr>
                <a:srgbClr val="000000"/>
              </a:buClr>
              <a:buSzPts val="1800"/>
            </a:pPr>
            <a:endParaRPr sz="2800" b="1" kern="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/>
              <a:pPr defTabSz="1219170">
                <a:buClr>
                  <a:srgbClr val="000000"/>
                </a:buClr>
              </a:pPr>
              <a:t>1</a:t>
            </a:fld>
            <a:endParaRPr kern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D1BA3-79E4-3542-481F-796CEBFF3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791" y="0"/>
            <a:ext cx="10088218" cy="1284271"/>
          </a:xfrm>
          <a:prstGeom prst="rect">
            <a:avLst/>
          </a:prstGeom>
        </p:spPr>
      </p:pic>
      <p:sp>
        <p:nvSpPr>
          <p:cNvPr id="2" name="object 6">
            <a:extLst>
              <a:ext uri="{FF2B5EF4-FFF2-40B4-BE49-F238E27FC236}">
                <a16:creationId xmlns:a16="http://schemas.microsoft.com/office/drawing/2014/main" id="{0566A48D-711D-497B-12D1-2C2B4DB6B117}"/>
              </a:ext>
            </a:extLst>
          </p:cNvPr>
          <p:cNvSpPr txBox="1"/>
          <p:nvPr/>
        </p:nvSpPr>
        <p:spPr>
          <a:xfrm>
            <a:off x="3030537" y="1714035"/>
            <a:ext cx="60547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99055" marR="5080" indent="-2586990">
              <a:lnSpc>
                <a:spcPct val="100000"/>
              </a:lnSpc>
              <a:spcBef>
                <a:spcPts val="1805"/>
              </a:spcBef>
            </a:pPr>
            <a:r>
              <a:rPr lang="en-US" sz="1800" spc="-5" dirty="0">
                <a:solidFill>
                  <a:srgbClr val="8E0000"/>
                </a:solidFill>
                <a:latin typeface="Times New Roman" panose="02020603050405020304"/>
                <a:cs typeface="Times New Roman" panose="02020603050405020304"/>
              </a:rPr>
              <a:t>For the Degree </a:t>
            </a:r>
            <a:r>
              <a:rPr lang="en-US" sz="1800" dirty="0">
                <a:solidFill>
                  <a:srgbClr val="8E0000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lang="en-US" sz="1800" spc="-5" dirty="0">
                <a:solidFill>
                  <a:srgbClr val="8E0000"/>
                </a:solidFill>
                <a:latin typeface="Times New Roman" panose="02020603050405020304"/>
                <a:cs typeface="Times New Roman" panose="02020603050405020304"/>
              </a:rPr>
              <a:t>Bachelors </a:t>
            </a:r>
            <a:r>
              <a:rPr lang="en-US" sz="1800" dirty="0">
                <a:solidFill>
                  <a:srgbClr val="8E0000"/>
                </a:solidFill>
                <a:latin typeface="Times New Roman" panose="02020603050405020304"/>
                <a:cs typeface="Times New Roman" panose="02020603050405020304"/>
              </a:rPr>
              <a:t>of </a:t>
            </a:r>
            <a:r>
              <a:rPr lang="en-US" sz="1800" spc="-5" dirty="0">
                <a:solidFill>
                  <a:srgbClr val="8E0000"/>
                </a:solidFill>
                <a:latin typeface="Times New Roman" panose="02020603050405020304"/>
                <a:cs typeface="Times New Roman" panose="02020603050405020304"/>
              </a:rPr>
              <a:t>Electronics </a:t>
            </a:r>
            <a:r>
              <a:rPr lang="en-US" sz="1800" dirty="0">
                <a:solidFill>
                  <a:srgbClr val="8E0000"/>
                </a:solidFill>
                <a:latin typeface="Times New Roman" panose="02020603050405020304"/>
                <a:cs typeface="Times New Roman" panose="02020603050405020304"/>
              </a:rPr>
              <a:t>&amp; </a:t>
            </a:r>
            <a:r>
              <a:rPr lang="en-US" sz="1800" spc="-5" dirty="0">
                <a:solidFill>
                  <a:srgbClr val="8E0000"/>
                </a:solidFill>
                <a:latin typeface="Times New Roman" panose="02020603050405020304"/>
                <a:cs typeface="Times New Roman" panose="02020603050405020304"/>
              </a:rPr>
              <a:t>Telecommunication</a:t>
            </a:r>
            <a:endParaRPr lang="en-US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92DADF4D-68D5-63C8-F9E6-509B9759575B}"/>
              </a:ext>
            </a:extLst>
          </p:cNvPr>
          <p:cNvSpPr txBox="1"/>
          <p:nvPr/>
        </p:nvSpPr>
        <p:spPr>
          <a:xfrm>
            <a:off x="4827309" y="4033126"/>
            <a:ext cx="2368594" cy="87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ts val="2155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:</a:t>
            </a:r>
          </a:p>
          <a:p>
            <a:pPr marL="3175" algn="ctr">
              <a:lnSpc>
                <a:spcPts val="2395"/>
              </a:lnSpc>
            </a:pPr>
            <a:r>
              <a:rPr lang="en-US" sz="2000" b="1" spc="-5" dirty="0">
                <a:latin typeface="Times New Roman" panose="02020603050405020304"/>
                <a:cs typeface="Times New Roman" panose="02020603050405020304"/>
              </a:rPr>
              <a:t>Dr. Baban U. Rindhe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 </a:t>
            </a:r>
            <a:r>
              <a:rPr lang="en-US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EXTC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)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415DC8-8E6A-9E1D-12E1-19A15AFFA9AE}"/>
              </a:ext>
            </a:extLst>
          </p:cNvPr>
          <p:cNvSpPr>
            <a:spLocks/>
          </p:cNvSpPr>
          <p:nvPr/>
        </p:nvSpPr>
        <p:spPr>
          <a:xfrm>
            <a:off x="2113000" y="5288925"/>
            <a:ext cx="8170232" cy="1096645"/>
          </a:xfrm>
          <a:prstGeom prst="roundRect">
            <a:avLst>
              <a:gd name="adj" fmla="val 2670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bject 15">
            <a:extLst>
              <a:ext uri="{FF2B5EF4-FFF2-40B4-BE49-F238E27FC236}">
                <a16:creationId xmlns:a16="http://schemas.microsoft.com/office/drawing/2014/main" id="{00DBF1EC-8EC9-1733-15E0-02AE8E9749A9}"/>
              </a:ext>
            </a:extLst>
          </p:cNvPr>
          <p:cNvSpPr txBox="1"/>
          <p:nvPr/>
        </p:nvSpPr>
        <p:spPr>
          <a:xfrm>
            <a:off x="2285692" y="5535882"/>
            <a:ext cx="8042909" cy="60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70305">
              <a:lnSpc>
                <a:spcPts val="2155"/>
              </a:lnSpc>
              <a:spcBef>
                <a:spcPts val="100"/>
              </a:spcBef>
            </a:pPr>
            <a:r>
              <a:rPr sz="1800" spc="-5" dirty="0">
                <a:latin typeface="Times New Roman" panose="02020603050405020304"/>
                <a:cs typeface="Times New Roman" panose="02020603050405020304"/>
              </a:rPr>
              <a:t>Department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Electronics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Telecommunication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Engineering</a:t>
            </a:r>
            <a:endParaRPr sz="18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ts val="2395"/>
              </a:lnSpc>
              <a:tabLst>
                <a:tab pos="5955665" algn="l"/>
              </a:tabLst>
            </a:pPr>
            <a:r>
              <a:rPr sz="2000" spc="-5" dirty="0">
                <a:latin typeface="Times New Roman" panose="02020603050405020304"/>
                <a:cs typeface="Times New Roman" panose="02020603050405020304"/>
              </a:rPr>
              <a:t>K. C.</a:t>
            </a:r>
            <a:r>
              <a:rPr lang="en-IN"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College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Engineering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&amp;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Studies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Research,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" dirty="0">
                <a:latin typeface="Times New Roman" panose="02020603050405020304"/>
                <a:cs typeface="Times New Roman" panose="02020603050405020304"/>
              </a:rPr>
              <a:t>Thane</a:t>
            </a:r>
            <a:r>
              <a:rPr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dirty="0">
                <a:latin typeface="Times New Roman" panose="02020603050405020304"/>
                <a:cs typeface="Times New Roman" panose="02020603050405020304"/>
              </a:rPr>
              <a:t>(E</a:t>
            </a: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)</a:t>
            </a:r>
          </a:p>
        </p:txBody>
      </p:sp>
      <p:pic>
        <p:nvPicPr>
          <p:cNvPr id="9" name="Picture 4" descr="Fiber Optic Link">
            <a:extLst>
              <a:ext uri="{FF2B5EF4-FFF2-40B4-BE49-F238E27FC236}">
                <a16:creationId xmlns:a16="http://schemas.microsoft.com/office/drawing/2014/main" id="{9972729D-F344-2BDC-BF91-B4400054B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67" y="0"/>
            <a:ext cx="1217614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A29A1AE-35ED-DC89-5372-3B416D3F6B08}"/>
              </a:ext>
            </a:extLst>
          </p:cNvPr>
          <p:cNvGrpSpPr/>
          <p:nvPr/>
        </p:nvGrpSpPr>
        <p:grpSpPr>
          <a:xfrm>
            <a:off x="2466080" y="2850050"/>
            <a:ext cx="7464071" cy="674651"/>
            <a:chOff x="1461655" y="2541814"/>
            <a:chExt cx="7464071" cy="67465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135DBFE-0660-475F-73FC-0753FA29D289}"/>
                </a:ext>
              </a:extLst>
            </p:cNvPr>
            <p:cNvSpPr txBox="1"/>
            <p:nvPr/>
          </p:nvSpPr>
          <p:spPr>
            <a:xfrm>
              <a:off x="1461655" y="2570134"/>
              <a:ext cx="1839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Amey Pilankar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Roll No. 61</a:t>
              </a:r>
              <a:endPara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B7CEF4-BB3A-6856-3918-8696F441E944}"/>
                </a:ext>
              </a:extLst>
            </p:cNvPr>
            <p:cNvSpPr txBox="1"/>
            <p:nvPr/>
          </p:nvSpPr>
          <p:spPr>
            <a:xfrm>
              <a:off x="3336579" y="2560694"/>
              <a:ext cx="1839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Aryan Rajpure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Roll No. 62</a:t>
              </a:r>
              <a:endPara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774299-C9E3-E19B-9F59-C34305987F35}"/>
                </a:ext>
              </a:extLst>
            </p:cNvPr>
            <p:cNvSpPr txBox="1"/>
            <p:nvPr/>
          </p:nvSpPr>
          <p:spPr>
            <a:xfrm>
              <a:off x="5211503" y="2551254"/>
              <a:ext cx="1839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Pawan Sahu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Roll No. 63</a:t>
              </a:r>
              <a:endPara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A9DF79-2119-AC5B-45E3-54B3B88BE810}"/>
                </a:ext>
              </a:extLst>
            </p:cNvPr>
            <p:cNvSpPr txBox="1"/>
            <p:nvPr/>
          </p:nvSpPr>
          <p:spPr>
            <a:xfrm>
              <a:off x="7086427" y="2541814"/>
              <a:ext cx="18392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Charul Sawant</a:t>
              </a:r>
            </a:p>
            <a:p>
              <a:pPr algn="ctr"/>
              <a:r>
                <a:rPr lang="en-US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Roll No. 64</a:t>
              </a:r>
              <a:endParaRPr lang="en-IN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690F33-DA00-21F9-E4AF-44FB909EC93C}"/>
              </a:ext>
            </a:extLst>
          </p:cNvPr>
          <p:cNvSpPr txBox="1"/>
          <p:nvPr/>
        </p:nvSpPr>
        <p:spPr>
          <a:xfrm>
            <a:off x="3085697" y="2293195"/>
            <a:ext cx="61892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Topic:-Performance Analysis of Optical Communication System using APD and PIN Photodiodes with </a:t>
            </a:r>
            <a:r>
              <a:rPr lang="en-US" sz="1400" b="1" dirty="0" err="1"/>
              <a:t>OptiSystem</a:t>
            </a:r>
            <a:r>
              <a:rPr lang="en-US" sz="1400" b="1" dirty="0"/>
              <a:t> Simulation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EF8F6-F9A3-4E59-9165-60DD9542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077" y="1444358"/>
            <a:ext cx="9906000" cy="685800"/>
          </a:xfrm>
        </p:spPr>
        <p:txBody>
          <a:bodyPr anchor="t"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OF PRESENTATION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2D8E5-FD2E-A36C-94E0-4DC23C5A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9000" y="6400800"/>
            <a:ext cx="68580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F04D8A3-F226-4299-AE4E-8E20FF6744A8}" type="slidenum">
              <a:rPr lang="en-IN" sz="1000">
                <a:solidFill>
                  <a:srgbClr val="000000">
                    <a:alpha val="70000"/>
                  </a:srgb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IN" sz="1000">
              <a:solidFill>
                <a:srgbClr val="000000">
                  <a:alpha val="70000"/>
                </a:srgb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A8B66D-D1A6-6919-BAFA-F06F6793C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0"/>
            <a:ext cx="11277600" cy="134522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51063" y="1997322"/>
            <a:ext cx="77061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System Overview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APD Photodiode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PIN Photodiode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Real-life Application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 &amp; Future Scope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References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C1609-1F6E-ED10-0908-B0A9AEB62F6F}"/>
              </a:ext>
            </a:extLst>
          </p:cNvPr>
          <p:cNvSpPr txBox="1"/>
          <p:nvPr/>
        </p:nvSpPr>
        <p:spPr>
          <a:xfrm>
            <a:off x="2157972" y="5846802"/>
            <a:ext cx="9039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796BFA-1E0E-4077-4445-E5986793CB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435" y="2130158"/>
            <a:ext cx="2393284" cy="226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51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A85D59-99CE-3A87-D0CD-9C5281D45E6C}"/>
              </a:ext>
            </a:extLst>
          </p:cNvPr>
          <p:cNvSpPr txBox="1"/>
          <p:nvPr/>
        </p:nvSpPr>
        <p:spPr>
          <a:xfrm>
            <a:off x="4025924" y="1577561"/>
            <a:ext cx="3835351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4D6EA5-EBF5-AE58-3668-9EFB356A30C6}"/>
              </a:ext>
            </a:extLst>
          </p:cNvPr>
          <p:cNvSpPr txBox="1"/>
          <p:nvPr/>
        </p:nvSpPr>
        <p:spPr>
          <a:xfrm>
            <a:off x="6641908" y="2209800"/>
            <a:ext cx="3797492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AE6384-26EE-53AE-59E5-052F6614D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105900" cy="1323975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AFF377C5-9669-712B-1962-84CDC40AF4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B9D52748-D431-5F60-F9A7-A5D9D01D8D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7D054E-DB90-7B55-1DB6-2780DE5537EC}"/>
              </a:ext>
            </a:extLst>
          </p:cNvPr>
          <p:cNvSpPr txBox="1"/>
          <p:nvPr/>
        </p:nvSpPr>
        <p:spPr>
          <a:xfrm>
            <a:off x="790495" y="2226995"/>
            <a:ext cx="992669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Optical communication is a technology that uses </a:t>
            </a:r>
            <a:r>
              <a:rPr lang="en-US" b="1" dirty="0"/>
              <a:t>light signals transmitted through fiber optic cables</a:t>
            </a:r>
            <a:r>
              <a:rPr lang="en-US" dirty="0"/>
              <a:t> for efficient data communication </a:t>
            </a:r>
          </a:p>
          <a:p>
            <a:r>
              <a:rPr lang="en-US" dirty="0"/>
              <a:t>It offers </a:t>
            </a:r>
            <a:r>
              <a:rPr lang="en-US" b="1" dirty="0"/>
              <a:t>very high speed, large bandwidth, and low signal attenuation</a:t>
            </a:r>
            <a:r>
              <a:rPr lang="en-US" dirty="0"/>
              <a:t>, making it superior to conventional communication systems </a:t>
            </a:r>
          </a:p>
          <a:p>
            <a:r>
              <a:rPr lang="en-US" dirty="0"/>
              <a:t>Optical communication forms the backbone of modern systems such as </a:t>
            </a:r>
            <a:r>
              <a:rPr lang="en-US" b="1" dirty="0"/>
              <a:t>internet, telecommunications, data centers, and digital networks</a:t>
            </a:r>
            <a:r>
              <a:rPr lang="en-US" dirty="0"/>
              <a:t> </a:t>
            </a:r>
          </a:p>
          <a:p>
            <a:r>
              <a:rPr lang="en-US" dirty="0"/>
              <a:t>It enables </a:t>
            </a:r>
            <a:r>
              <a:rPr lang="en-US" b="1" dirty="0"/>
              <a:t>reliable long-distance communication</a:t>
            </a:r>
            <a:r>
              <a:rPr lang="en-US" dirty="0"/>
              <a:t> with minimal signal loss and high data security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Project Focus:</a:t>
            </a:r>
            <a:endParaRPr lang="en-US" dirty="0"/>
          </a:p>
          <a:p>
            <a:r>
              <a:rPr lang="en-US" dirty="0"/>
              <a:t>Design and simulation of an </a:t>
            </a:r>
            <a:r>
              <a:rPr lang="en-US" b="1" dirty="0"/>
              <a:t>optical communication system using </a:t>
            </a:r>
            <a:r>
              <a:rPr lang="en-US" b="1" dirty="0" err="1"/>
              <a:t>OptiSystem</a:t>
            </a:r>
            <a:r>
              <a:rPr lang="en-US" b="1" dirty="0"/>
              <a:t> software</a:t>
            </a:r>
            <a:r>
              <a:rPr lang="en-US" dirty="0"/>
              <a:t> </a:t>
            </a:r>
          </a:p>
          <a:p>
            <a:r>
              <a:rPr lang="en-US" dirty="0"/>
              <a:t>Comparative analysis of </a:t>
            </a:r>
            <a:r>
              <a:rPr lang="en-US" b="1" dirty="0"/>
              <a:t>APD (Avalanche Photodiode) and PIN Photodiode</a:t>
            </a:r>
            <a:r>
              <a:rPr lang="en-US" dirty="0"/>
              <a:t> based on performance parameters </a:t>
            </a:r>
          </a:p>
          <a:p>
            <a:r>
              <a:rPr lang="en-US" dirty="0"/>
              <a:t>Evaluation of system performance using </a:t>
            </a:r>
            <a:r>
              <a:rPr lang="en-US" b="1" dirty="0"/>
              <a:t>Bit Error Rate (BER)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1A1D0E-FFE4-88AB-39DD-41DA30817DD5}"/>
              </a:ext>
            </a:extLst>
          </p:cNvPr>
          <p:cNvSpPr txBox="1"/>
          <p:nvPr/>
        </p:nvSpPr>
        <p:spPr>
          <a:xfrm>
            <a:off x="2213808" y="6282631"/>
            <a:ext cx="8614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6562D65-1388-FD72-790E-6EA136F4D1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528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7B08A-5342-6281-D978-33E399F48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459266-48F7-B40E-1A13-21EC9F336048}"/>
              </a:ext>
            </a:extLst>
          </p:cNvPr>
          <p:cNvSpPr txBox="1"/>
          <p:nvPr/>
        </p:nvSpPr>
        <p:spPr>
          <a:xfrm>
            <a:off x="4740120" y="1577562"/>
            <a:ext cx="2711759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</a:t>
            </a:r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</a:t>
            </a:r>
            <a:endParaRPr lang="en-US" sz="3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08FF3C-B7CE-280F-84D0-3059CE4E4899}"/>
              </a:ext>
            </a:extLst>
          </p:cNvPr>
          <p:cNvSpPr txBox="1"/>
          <p:nvPr/>
        </p:nvSpPr>
        <p:spPr>
          <a:xfrm>
            <a:off x="6641908" y="2209800"/>
            <a:ext cx="3797492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650FF-5A14-32AD-63E5-3FDC8C2F4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195837"/>
            <a:ext cx="9105900" cy="1323975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F755C87A-45AB-357E-A80D-C71246BB4E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B8BD14C1-9477-C268-E8B5-C572A5C33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62AAB0-4377-7C7F-421E-5188F59F2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396" y="439290"/>
            <a:ext cx="1075440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A87DD-B21A-E485-ED51-241C7D03D0C5}"/>
              </a:ext>
            </a:extLst>
          </p:cNvPr>
          <p:cNvSpPr txBox="1"/>
          <p:nvPr/>
        </p:nvSpPr>
        <p:spPr>
          <a:xfrm>
            <a:off x="2239675" y="6304002"/>
            <a:ext cx="86341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3D72658-726B-1F3B-2345-F91644EA0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257" y="1684564"/>
            <a:ext cx="11181347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simulate an efficient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optical communication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perform a comparative analysis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Avalanche Photodiode (APD)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PIN Photodiode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identical operating conditions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system performance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 Error Rate (BER)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signal quality parameters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study the impact of different photodetectors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 detection and system efficiency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understand the practical implementation of optical communication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real-life applications such as telecom, metro systems, and data networks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7B3E32-E1B9-B23A-2D67-4B6DE0201B5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45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4BFF5-C4A6-F6C8-DCB4-5E9ED1DCB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C3EC93-058C-BED1-11D3-F5246AC8519C}"/>
              </a:ext>
            </a:extLst>
          </p:cNvPr>
          <p:cNvSpPr txBox="1"/>
          <p:nvPr/>
        </p:nvSpPr>
        <p:spPr>
          <a:xfrm>
            <a:off x="2598821" y="1427372"/>
            <a:ext cx="6095999" cy="5311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366E51-2E34-3E95-F534-3F7253F420F4}"/>
              </a:ext>
            </a:extLst>
          </p:cNvPr>
          <p:cNvSpPr txBox="1"/>
          <p:nvPr/>
        </p:nvSpPr>
        <p:spPr>
          <a:xfrm>
            <a:off x="6641908" y="2209800"/>
            <a:ext cx="3797492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D09212-8EB9-DAF2-478F-A071C8A13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105900" cy="1323975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245CDB5A-F059-44B6-0A84-1EF600A5AD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7DE55AA6-1912-52AA-855F-E1FEE4FB98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DDCBE-0685-8567-B744-B4DC1A9D3743}"/>
              </a:ext>
            </a:extLst>
          </p:cNvPr>
          <p:cNvSpPr txBox="1"/>
          <p:nvPr/>
        </p:nvSpPr>
        <p:spPr>
          <a:xfrm>
            <a:off x="6288505" y="2075438"/>
            <a:ext cx="609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Block Explanation: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PRBS Generator → Generates random binary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Pulse Generator → Converts data into electrical signal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Laser Source → Generates optical signal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Modulator → Converts electrical to optical signal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Attenuator → Simulates signal loss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Fork → Splits signal to APD and PIN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4624BF-D223-9EDE-2D11-F52CA24FAE68}"/>
              </a:ext>
            </a:extLst>
          </p:cNvPr>
          <p:cNvSpPr txBox="1"/>
          <p:nvPr/>
        </p:nvSpPr>
        <p:spPr>
          <a:xfrm>
            <a:off x="2013730" y="6304002"/>
            <a:ext cx="9256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C201EE1-5B2E-590A-34CB-C2BB39660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95" y="2121605"/>
            <a:ext cx="5871410" cy="401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0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DE82A-BF59-6BE4-5196-715C6DA70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77B357-1F4F-2CAB-777D-3E6B34A9BE29}"/>
              </a:ext>
            </a:extLst>
          </p:cNvPr>
          <p:cNvSpPr txBox="1"/>
          <p:nvPr/>
        </p:nvSpPr>
        <p:spPr>
          <a:xfrm>
            <a:off x="2503580" y="1432259"/>
            <a:ext cx="6037074" cy="4692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APD PHOTODIODE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18B23-B1B7-D716-75F3-31F337D0B4AF}"/>
              </a:ext>
            </a:extLst>
          </p:cNvPr>
          <p:cNvSpPr txBox="1"/>
          <p:nvPr/>
        </p:nvSpPr>
        <p:spPr>
          <a:xfrm>
            <a:off x="6641908" y="2209800"/>
            <a:ext cx="3797492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0D79A9-CC65-5056-6B2F-0D44244AC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105900" cy="1323975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DC4367C3-2074-B896-C436-D891D64A77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DA707B6F-53FE-708A-27C6-CA54933114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D0AB5-5052-8876-5221-CEE626E48D65}"/>
              </a:ext>
            </a:extLst>
          </p:cNvPr>
          <p:cNvSpPr txBox="1"/>
          <p:nvPr/>
        </p:nvSpPr>
        <p:spPr>
          <a:xfrm>
            <a:off x="574447" y="1995493"/>
            <a:ext cx="996214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APD (Avalanche Photodiode):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Has internal gain (≈21)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Works on avalanche multiplication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 sensitivity </a:t>
            </a:r>
          </a:p>
          <a:p>
            <a:pPr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Detects weak signals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Suitable for long distance communication </a:t>
            </a:r>
          </a:p>
          <a:p>
            <a:pPr>
              <a:buNone/>
            </a:pPr>
            <a:r>
              <a:rPr lang="en-US" sz="2400" b="1" dirty="0"/>
              <a:t>Disadvantages: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High noise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Expensive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54803-05B3-B42B-AC4C-C9159204B18E}"/>
              </a:ext>
            </a:extLst>
          </p:cNvPr>
          <p:cNvSpPr txBox="1"/>
          <p:nvPr/>
        </p:nvSpPr>
        <p:spPr>
          <a:xfrm>
            <a:off x="2229791" y="6358661"/>
            <a:ext cx="9577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DC0B46-4172-8837-7680-4842FD1BF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09775"/>
            <a:ext cx="5216753" cy="410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1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47AFE-AA15-7CDE-0117-B160F4D73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5B597D-08EB-AA48-37DC-DE5A63C99AB3}"/>
              </a:ext>
            </a:extLst>
          </p:cNvPr>
          <p:cNvSpPr txBox="1"/>
          <p:nvPr/>
        </p:nvSpPr>
        <p:spPr>
          <a:xfrm>
            <a:off x="2845063" y="1489911"/>
            <a:ext cx="5695591" cy="42912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PIN PHOTODIODE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CF7CAF-4281-DD75-D778-4D12A9569433}"/>
              </a:ext>
            </a:extLst>
          </p:cNvPr>
          <p:cNvSpPr txBox="1"/>
          <p:nvPr/>
        </p:nvSpPr>
        <p:spPr>
          <a:xfrm>
            <a:off x="6641908" y="2209800"/>
            <a:ext cx="3797492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293DEB-7E48-5A25-0ED5-FCAE05C0D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105900" cy="1323975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A5EFA2A7-3E83-C78F-D01B-7024C4ED5C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D8141B15-060B-5E7A-749C-E1B37F4F09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D3F0D-A89B-211C-7CB0-685ED98B9B8C}"/>
              </a:ext>
            </a:extLst>
          </p:cNvPr>
          <p:cNvSpPr txBox="1"/>
          <p:nvPr/>
        </p:nvSpPr>
        <p:spPr>
          <a:xfrm>
            <a:off x="545908" y="2084973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PIN Photodiode: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Consists of P-I-N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No internal gain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Direct conversion of optical to electrical signal </a:t>
            </a:r>
          </a:p>
          <a:p>
            <a:pPr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Low noise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Low cost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Stable performance </a:t>
            </a:r>
          </a:p>
          <a:p>
            <a:pPr>
              <a:buNone/>
            </a:pPr>
            <a:r>
              <a:rPr lang="en-US" sz="2400" b="1" dirty="0"/>
              <a:t>Disadvantages: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Less sensitive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Cannot detect very weak signals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AF0E3-DA13-9428-2EEB-CB1617247592}"/>
              </a:ext>
            </a:extLst>
          </p:cNvPr>
          <p:cNvSpPr txBox="1"/>
          <p:nvPr/>
        </p:nvSpPr>
        <p:spPr>
          <a:xfrm>
            <a:off x="1847850" y="6231255"/>
            <a:ext cx="91058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6FFAC1-EC78-3E69-CAD8-5E39E26A2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1" y="1958287"/>
            <a:ext cx="5494982" cy="398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451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9E775-EE6F-D066-0F9C-81C058A6A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4715DE-E91E-8870-E7FE-D61DB5A2DADF}"/>
              </a:ext>
            </a:extLst>
          </p:cNvPr>
          <p:cNvSpPr txBox="1"/>
          <p:nvPr/>
        </p:nvSpPr>
        <p:spPr>
          <a:xfrm>
            <a:off x="2428615" y="1690687"/>
            <a:ext cx="6635175" cy="152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REAL LIFE APPLICATION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D4AC5A-DEB2-2795-F510-EBDFA3C04043}"/>
              </a:ext>
            </a:extLst>
          </p:cNvPr>
          <p:cNvSpPr txBox="1"/>
          <p:nvPr/>
        </p:nvSpPr>
        <p:spPr>
          <a:xfrm>
            <a:off x="6641908" y="2209800"/>
            <a:ext cx="3797492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3F5F3-876A-CDC2-A648-0F73954C4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105900" cy="1323975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D6C1C710-8CA8-BB3A-114C-36867F9289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675EF2F2-9C71-A1BB-0B5E-87262A6858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D6000-1080-20D5-7C35-F959799D57C2}"/>
              </a:ext>
            </a:extLst>
          </p:cNvPr>
          <p:cNvSpPr txBox="1"/>
          <p:nvPr/>
        </p:nvSpPr>
        <p:spPr>
          <a:xfrm>
            <a:off x="898357" y="2277247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APD Used In: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Long distance fiber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Metro rail signaling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Satellite communication </a:t>
            </a:r>
          </a:p>
          <a:p>
            <a:pPr>
              <a:buNone/>
            </a:pPr>
            <a:r>
              <a:rPr lang="en-US" sz="2400" b="1" dirty="0"/>
              <a:t>PIN Used In: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Broadband 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LAN networks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Cable TV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2B0B36-B052-1780-19B0-6215FCC6F957}"/>
              </a:ext>
            </a:extLst>
          </p:cNvPr>
          <p:cNvSpPr txBox="1"/>
          <p:nvPr/>
        </p:nvSpPr>
        <p:spPr>
          <a:xfrm>
            <a:off x="2428615" y="6058166"/>
            <a:ext cx="88472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9EC7C7-7694-4C79-56C0-3C07FC0084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830" y="3787070"/>
            <a:ext cx="2850156" cy="20110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C6F68C-1E80-C101-003A-27E2C379A7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790" y="4168547"/>
            <a:ext cx="2604299" cy="162954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9CD0B2-5E4F-69F7-A1AE-2D096F324E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4705" y="1475147"/>
            <a:ext cx="1828325" cy="2428611"/>
          </a:xfrm>
          <a:prstGeom prst="rect">
            <a:avLst/>
          </a:prstGeom>
        </p:spPr>
      </p:pic>
      <p:pic>
        <p:nvPicPr>
          <p:cNvPr id="3074" name="Picture 2" descr="High tech control room for Chennai metro | High tech control room for  Chennai metro">
            <a:extLst>
              <a:ext uri="{FF2B5EF4-FFF2-40B4-BE49-F238E27FC236}">
                <a16:creationId xmlns:a16="http://schemas.microsoft.com/office/drawing/2014/main" id="{8BC5E51B-138D-8BBE-38DF-80A691E0F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278" y="1990159"/>
            <a:ext cx="27432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4564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E33C-9EC0-E308-404A-A89ADA726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2657AC-B578-BC8D-1245-3727A8EBD6AB}"/>
              </a:ext>
            </a:extLst>
          </p:cNvPr>
          <p:cNvSpPr txBox="1"/>
          <p:nvPr/>
        </p:nvSpPr>
        <p:spPr>
          <a:xfrm>
            <a:off x="1283369" y="1560927"/>
            <a:ext cx="8599212" cy="304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C59F1-D545-6131-8BB3-D76BE411020D}"/>
              </a:ext>
            </a:extLst>
          </p:cNvPr>
          <p:cNvSpPr txBox="1"/>
          <p:nvPr/>
        </p:nvSpPr>
        <p:spPr>
          <a:xfrm>
            <a:off x="5983644" y="2286000"/>
            <a:ext cx="3797492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055459-93CD-AE19-D463-3A137AD6E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105900" cy="1323975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A852E0C0-05F5-1813-9780-84A37954E0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B7C1A55E-46D2-95E6-DB77-3665F6C079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A4235-F679-C7C7-1A94-EE07617586C9}"/>
              </a:ext>
            </a:extLst>
          </p:cNvPr>
          <p:cNvSpPr txBox="1"/>
          <p:nvPr/>
        </p:nvSpPr>
        <p:spPr>
          <a:xfrm>
            <a:off x="513347" y="1744248"/>
            <a:ext cx="1167865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Conclusion: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APD photodiode provides </a:t>
            </a:r>
            <a:r>
              <a:rPr lang="en-US" b="1" dirty="0"/>
              <a:t>higher sensitivity and better signal detection</a:t>
            </a:r>
            <a:r>
              <a:rPr lang="en-US" dirty="0"/>
              <a:t>, resulting in lower Bit Error Rate (BER)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PIN photodiode offers </a:t>
            </a:r>
            <a:r>
              <a:rPr lang="en-US" b="1" dirty="0"/>
              <a:t>stable performance with low noise and low cost</a:t>
            </a:r>
            <a:r>
              <a:rPr lang="en-US" dirty="0"/>
              <a:t>, making it suitable for economical systems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The overall performance of the optical communication system depends on the </a:t>
            </a:r>
            <a:r>
              <a:rPr lang="en-US" b="1" dirty="0"/>
              <a:t>type of photodetector used and system requirements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APD is preferred for </a:t>
            </a:r>
            <a:r>
              <a:rPr lang="en-US" b="1" dirty="0"/>
              <a:t>long-distance and high-performance communication</a:t>
            </a:r>
            <a:r>
              <a:rPr lang="en-US" dirty="0"/>
              <a:t>, while PIN is suitable for </a:t>
            </a:r>
            <a:r>
              <a:rPr lang="en-US" b="1" dirty="0"/>
              <a:t>short-distance and cost-effective applications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Future Scope: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Implementation in </a:t>
            </a:r>
            <a:r>
              <a:rPr lang="en-US" b="1" dirty="0"/>
              <a:t>5G and upcoming 6G optical communication networks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 in </a:t>
            </a:r>
            <a:r>
              <a:rPr lang="en-US" b="1" dirty="0"/>
              <a:t>smart city infrastructure and intelligent transport systems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Development of </a:t>
            </a:r>
            <a:r>
              <a:rPr lang="en-US" b="1" dirty="0"/>
              <a:t>high-speed and high-capacity optical networks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Integration with </a:t>
            </a:r>
            <a:r>
              <a:rPr lang="en-US" b="1" dirty="0"/>
              <a:t>AI-based signal processing for better performance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Improvement in </a:t>
            </a:r>
            <a:r>
              <a:rPr lang="en-US" b="1" dirty="0"/>
              <a:t>low-noise and high-efficiency photodetectors</a:t>
            </a: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98BCD3-E939-275B-5FD6-6C894055E2B6}"/>
              </a:ext>
            </a:extLst>
          </p:cNvPr>
          <p:cNvSpPr txBox="1"/>
          <p:nvPr/>
        </p:nvSpPr>
        <p:spPr>
          <a:xfrm>
            <a:off x="2133600" y="6238773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86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1F48-809C-918A-BE8D-DAB5C3B6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B49F3-F690-6862-196A-B3DCB41517B1}"/>
              </a:ext>
            </a:extLst>
          </p:cNvPr>
          <p:cNvSpPr txBox="1"/>
          <p:nvPr/>
        </p:nvSpPr>
        <p:spPr>
          <a:xfrm>
            <a:off x="4025924" y="1577561"/>
            <a:ext cx="3835351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    </a:t>
            </a: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637989-037C-A947-9A91-BB5D8841946F}"/>
              </a:ext>
            </a:extLst>
          </p:cNvPr>
          <p:cNvSpPr txBox="1"/>
          <p:nvPr/>
        </p:nvSpPr>
        <p:spPr>
          <a:xfrm>
            <a:off x="6641908" y="2209800"/>
            <a:ext cx="3797492" cy="4572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E3F0E6-7B22-ECFD-0C65-D692984A9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94" y="0"/>
            <a:ext cx="9105900" cy="1323975"/>
          </a:xfrm>
          <a:prstGeom prst="rect">
            <a:avLst/>
          </a:prstGeom>
        </p:spPr>
      </p:pic>
      <p:sp>
        <p:nvSpPr>
          <p:cNvPr id="13" name="AutoShape 7">
            <a:extLst>
              <a:ext uri="{FF2B5EF4-FFF2-40B4-BE49-F238E27FC236}">
                <a16:creationId xmlns:a16="http://schemas.microsoft.com/office/drawing/2014/main" id="{46036B16-8FA5-9D2B-3DD9-5575B62A8E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BB8327D2-B511-D0EA-C328-16946D6C38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12062" y="2603200"/>
            <a:ext cx="12825724" cy="2158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sz="2400" dirty="0"/>
              <a:t>[1] G. Keiser, </a:t>
            </a:r>
            <a:r>
              <a:rPr lang="en-IN" sz="2400" i="1" dirty="0"/>
              <a:t>Optical Fiber Communications</a:t>
            </a:r>
            <a:r>
              <a:rPr lang="en-IN" sz="2400" dirty="0"/>
              <a:t>, 5th ed., New York: McGraw-Hill, 2013.</a:t>
            </a:r>
          </a:p>
          <a:p>
            <a:r>
              <a:rPr lang="en-IN" sz="2400" dirty="0"/>
              <a:t>[2] J. M. Senior, </a:t>
            </a:r>
            <a:r>
              <a:rPr lang="en-IN" sz="2400" i="1" dirty="0"/>
              <a:t>Optical Fiber Communications: Principles and Practice</a:t>
            </a:r>
            <a:r>
              <a:rPr lang="en-IN" sz="2400" dirty="0"/>
              <a:t>, 3rd ed., Pearson Education, 2009.</a:t>
            </a:r>
          </a:p>
          <a:p>
            <a:r>
              <a:rPr lang="en-IN" sz="2400" dirty="0"/>
              <a:t>[3] G. P. Agrawal, </a:t>
            </a:r>
            <a:r>
              <a:rPr lang="en-IN" sz="2400" i="1" dirty="0"/>
              <a:t>Fiber-Optic Communication Systems</a:t>
            </a:r>
            <a:r>
              <a:rPr lang="en-IN" sz="2400" dirty="0"/>
              <a:t>, 4th ed., Wiley, 2010.</a:t>
            </a:r>
          </a:p>
          <a:p>
            <a:r>
              <a:rPr lang="en-IN" sz="2400" dirty="0"/>
              <a:t>[4] </a:t>
            </a:r>
            <a:r>
              <a:rPr lang="en-IN" sz="2400" dirty="0" err="1"/>
              <a:t>Optiwave</a:t>
            </a:r>
            <a:r>
              <a:rPr lang="en-IN" sz="2400" dirty="0"/>
              <a:t> Systems Inc., </a:t>
            </a:r>
            <a:r>
              <a:rPr lang="en-IN" sz="2400" i="1" dirty="0" err="1"/>
              <a:t>OptiSystem</a:t>
            </a:r>
            <a:r>
              <a:rPr lang="en-IN" sz="2400" i="1" dirty="0"/>
              <a:t> User Reference Manual</a:t>
            </a:r>
            <a:r>
              <a:rPr lang="en-IN" sz="2400" dirty="0"/>
              <a:t>, Available: www.optiwave.com</a:t>
            </a:r>
          </a:p>
          <a:p>
            <a:r>
              <a:rPr lang="en-IN" sz="2400" dirty="0"/>
              <a:t>[5] “Photodiode – PIN and Avalanche Photodiode,” Electronics Hub, Available: www.electronicshub.org</a:t>
            </a:r>
          </a:p>
          <a:p>
            <a:r>
              <a:rPr lang="en-IN" sz="2400" dirty="0"/>
              <a:t>[6] “Optical Communication System Basics,” </a:t>
            </a:r>
            <a:r>
              <a:rPr lang="en-IN" sz="2400" dirty="0" err="1"/>
              <a:t>TutorialsPoint</a:t>
            </a:r>
            <a:r>
              <a:rPr lang="en-IN" sz="2400" dirty="0"/>
              <a:t>, Available: www.tutorialspoint.com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9247D-C550-8EA8-87D5-67BBEF2D14E8}"/>
              </a:ext>
            </a:extLst>
          </p:cNvPr>
          <p:cNvSpPr txBox="1"/>
          <p:nvPr/>
        </p:nvSpPr>
        <p:spPr>
          <a:xfrm>
            <a:off x="2165684" y="6283996"/>
            <a:ext cx="9272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Performance Analysis of Optical Communication System using APD &amp; PIN Photodiodes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120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813</Words>
  <Application>Microsoft Office PowerPoint</Application>
  <PresentationFormat>Widescreen</PresentationFormat>
  <Paragraphs>110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Bookman Old Style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OUTLINE OF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pawan sahu</cp:lastModifiedBy>
  <cp:revision>15</cp:revision>
  <dcterms:created xsi:type="dcterms:W3CDTF">2024-10-19T23:21:13Z</dcterms:created>
  <dcterms:modified xsi:type="dcterms:W3CDTF">2026-03-31T09:51:18Z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228353fa6eda47b8880ee22e562ff7b9</vt:lpwstr>
  </property>
</Properties>
</file>